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  <p:sldMasterId id="2147483716" r:id="rId2"/>
  </p:sldMasterIdLst>
  <p:notesMasterIdLst>
    <p:notesMasterId r:id="rId9"/>
  </p:notesMasterIdLst>
  <p:handoutMasterIdLst>
    <p:handoutMasterId r:id="rId10"/>
  </p:handoutMasterIdLst>
  <p:sldIdLst>
    <p:sldId id="274" r:id="rId3"/>
    <p:sldId id="258" r:id="rId4"/>
    <p:sldId id="364" r:id="rId5"/>
    <p:sldId id="260" r:id="rId6"/>
    <p:sldId id="275" r:id="rId7"/>
    <p:sldId id="287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00FF00"/>
    <a:srgbClr val="33CC33"/>
    <a:srgbClr val="4BB4E7"/>
    <a:srgbClr val="19468E"/>
    <a:srgbClr val="174489"/>
    <a:srgbClr val="29B8E7"/>
    <a:srgbClr val="41B9F7"/>
    <a:srgbClr val="0C5493"/>
    <a:srgbClr val="21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2549" autoAdjust="0"/>
  </p:normalViewPr>
  <p:slideViewPr>
    <p:cSldViewPr snapToGrid="0" showGuides="1">
      <p:cViewPr varScale="1">
        <p:scale>
          <a:sx n="59" d="100"/>
          <a:sy n="59" d="100"/>
        </p:scale>
        <p:origin x="1080" y="64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CBCD8C-50C5-5AB5-0925-1865ACEFF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635D57C-B674-2CB4-DF1A-5A7EDDE16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52416-F9E2-4912-B4E5-6ED7374D72C6}" type="datetimeFigureOut">
              <a:rPr lang="es-CL" smtClean="0"/>
              <a:t>21-03-2026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FAF1A7-B3A9-F049-9566-F6FBBEAD6E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2D0010-F8FA-4118-9208-CA806FBFB1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9F0DF-4B2D-4CDA-A931-CDFAE8D18A6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2126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DF7E1-5DA7-4479-82A3-BF39A4C52B15}" type="datetimeFigureOut">
              <a:rPr lang="es-CL" smtClean="0"/>
              <a:t>21-03-2026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274D6-A3B2-4887-81C5-779BE8EA7EC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3920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C481ED6E-A52C-E28E-0D78-C824A6A4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8" y="136525"/>
            <a:ext cx="10515600" cy="1009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C7DAD8B8-6B71-5A9B-F130-0ABF8644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607"/>
            <a:ext cx="10515600" cy="472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1C71C1-E0E7-EE1A-6DFA-941FB94A5F43}"/>
              </a:ext>
            </a:extLst>
          </p:cNvPr>
          <p:cNvSpPr/>
          <p:nvPr userDrawn="1"/>
        </p:nvSpPr>
        <p:spPr>
          <a:xfrm>
            <a:off x="832898" y="1052052"/>
            <a:ext cx="10526204" cy="94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9253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title"/>
          </p:nvPr>
        </p:nvSpPr>
        <p:spPr>
          <a:xfrm>
            <a:off x="1474901" y="433330"/>
            <a:ext cx="10302421" cy="40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91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98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77C6F545-129A-6067-03E0-6B732FC15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31056"/>
            <a:ext cx="12192000" cy="15355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04B750E-03FA-D540-AE68-A2D64A6AB3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06506" y="4599318"/>
            <a:ext cx="7099540" cy="188774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L" dirty="0"/>
              <a:t>Otros datos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1982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C481ED6E-A52C-E28E-0D78-C824A6A4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8" y="136525"/>
            <a:ext cx="10515600" cy="1009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C7DAD8B8-6B71-5A9B-F130-0ABF8644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607"/>
            <a:ext cx="10515600" cy="472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577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CD5109-F9EF-8F13-6C93-9F6A2FBF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1ADE-69B2-4168-AD03-6005D426A401}" type="datetimeFigureOut">
              <a:rPr lang="es-CL" smtClean="0"/>
              <a:t>21-03-2026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8B838E-A07A-6CA6-9591-92935B7D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FF02DE-EEB9-A435-6E0B-045ACA8F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EF3C-86F3-4FDB-9C30-D074A3A55B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96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100164-8B75-DFC3-763B-E13F0AC1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8" y="136525"/>
            <a:ext cx="8160027" cy="1009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28CAFA-561C-C146-7268-3A5EEED3B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7607"/>
            <a:ext cx="10515600" cy="471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7B88C2-3172-968B-D0CD-956E78320994}"/>
              </a:ext>
            </a:extLst>
          </p:cNvPr>
          <p:cNvSpPr/>
          <p:nvPr userDrawn="1"/>
        </p:nvSpPr>
        <p:spPr>
          <a:xfrm>
            <a:off x="832898" y="1052052"/>
            <a:ext cx="10526204" cy="94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300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15" r:id="rId2"/>
    <p:sldLayoutId id="214748371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100164-8B75-DFC3-763B-E13F0AC1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8" y="136525"/>
            <a:ext cx="8160027" cy="10099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Título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28CAFA-561C-C146-7268-3A5EEED3B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7607"/>
            <a:ext cx="10515600" cy="4713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A360AC-8DE2-E937-5EE0-E78F70007C88}"/>
              </a:ext>
            </a:extLst>
          </p:cNvPr>
          <p:cNvSpPr/>
          <p:nvPr userDrawn="1"/>
        </p:nvSpPr>
        <p:spPr>
          <a:xfrm>
            <a:off x="832898" y="1052052"/>
            <a:ext cx="10526204" cy="94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683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5">
            <a:extLst>
              <a:ext uri="{FF2B5EF4-FFF2-40B4-BE49-F238E27FC236}">
                <a16:creationId xmlns:a16="http://schemas.microsoft.com/office/drawing/2014/main" id="{2DD5E626-33CA-64A0-7F5B-6122FA8B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/>
              <a:t>Taller Análisis estadístico</a:t>
            </a:r>
            <a:br>
              <a:rPr lang="es-CL" sz="1800" dirty="0"/>
            </a:br>
            <a:r>
              <a:rPr lang="es-MX" sz="2400" dirty="0"/>
              <a:t>2025</a:t>
            </a:r>
            <a:endParaRPr lang="es-CL" sz="2400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6FB2BBCC-67E7-6674-3F98-278CDAE86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s-CL" dirty="0"/>
              <a:t>Relator: Marco Japke</a:t>
            </a:r>
          </a:p>
        </p:txBody>
      </p:sp>
      <p:sp>
        <p:nvSpPr>
          <p:cNvPr id="2" name="Subtítulo 6">
            <a:extLst>
              <a:ext uri="{FF2B5EF4-FFF2-40B4-BE49-F238E27FC236}">
                <a16:creationId xmlns:a16="http://schemas.microsoft.com/office/drawing/2014/main" id="{4ED1B4EB-A336-87CF-8758-F86A636B2E36}"/>
              </a:ext>
            </a:extLst>
          </p:cNvPr>
          <p:cNvSpPr txBox="1">
            <a:spLocks/>
          </p:cNvSpPr>
          <p:nvPr/>
        </p:nvSpPr>
        <p:spPr>
          <a:xfrm>
            <a:off x="1667932" y="5985935"/>
            <a:ext cx="2777067" cy="516466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dirty="0"/>
              <a:t>Marzo/2025</a:t>
            </a:r>
          </a:p>
        </p:txBody>
      </p:sp>
    </p:spTree>
    <p:extLst>
      <p:ext uri="{BB962C8B-B14F-4D97-AF65-F5344CB8AC3E}">
        <p14:creationId xmlns:p14="http://schemas.microsoft.com/office/powerpoint/2010/main" val="97534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CBF412A-57E1-325C-5ECF-860EC6B09E0E}"/>
              </a:ext>
            </a:extLst>
          </p:cNvPr>
          <p:cNvSpPr txBox="1"/>
          <p:nvPr/>
        </p:nvSpPr>
        <p:spPr>
          <a:xfrm>
            <a:off x="719912" y="1720840"/>
            <a:ext cx="10752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Contexto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cirrosis es una etapa avanzada de la cicatrización (fibrosis) del hígado causada por muchas formas de enfermedades y afecciones hepáticas, como la hepatitis y el alcoholismo crónico. Los siguientes datos contienen la información recopilada del ensayo de la Clínica Mayo sobre cirrosis biliar primaria (CBP) del hígado realizado entre 1974 y 1984. En el Capítulo 0, especialmente en la Sección 0.2 de Fleming y Harrington,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Counting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Processes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Survival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Wiley, 1991, se puede encontrar una descripción más amplia en Dickson, et al.,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Hepatology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10:1-7 (1989) y en Markus, et al., N Eng J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320:1709-13 (1989).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Contamos con una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dtaset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preparado de 418 pacientes con CBP, derivados a Mayo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durante ese intervalo de diez años, cumplieron los criterios de elegibilidad para el ensayo aleatorizado controlado con placebo del fármaco D-penicilamina. </a:t>
            </a: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03078-D582-A172-36CF-32AD4F609222}"/>
              </a:ext>
            </a:extLst>
          </p:cNvPr>
          <p:cNvSpPr txBox="1">
            <a:spLocks/>
          </p:cNvSpPr>
          <p:nvPr/>
        </p:nvSpPr>
        <p:spPr>
          <a:xfrm>
            <a:off x="876442" y="118484"/>
            <a:ext cx="9192843" cy="10099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Dataset</a:t>
            </a:r>
            <a:r>
              <a:rPr kumimoji="0" lang="es-MX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– CIRROSIS (Excel)</a:t>
            </a:r>
          </a:p>
        </p:txBody>
      </p:sp>
    </p:spTree>
    <p:extLst>
      <p:ext uri="{BB962C8B-B14F-4D97-AF65-F5344CB8AC3E}">
        <p14:creationId xmlns:p14="http://schemas.microsoft.com/office/powerpoint/2010/main" val="409523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BDB4599-96FF-286E-0187-156CDE8B9722}"/>
              </a:ext>
            </a:extLst>
          </p:cNvPr>
          <p:cNvSpPr txBox="1"/>
          <p:nvPr/>
        </p:nvSpPr>
        <p:spPr>
          <a:xfrm>
            <a:off x="392430" y="1929752"/>
            <a:ext cx="48958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1) ID: identificador único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2)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N_Días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número de días entre el registro y el primero de los siguientes: muerte, trasplante o momento del análisis del estudio en julio de 1986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3) Estado: estado del paciente C (censurado), CL (censurado debido a tratamiento hepático) o D (muerte)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4) Fármaco: tipo de fármaco D-penicilamina o placebo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5) Edad: edad en [días]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6) Sexo: M (masculino) o F (femenino)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7) Ascitis: presencia de ascitis N (No) o Y (Sí)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8) Hepatomegalia: presencia de hepatomegalia N (No) o Y (Sí)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9) Arañas: presencia de arañas N (No) o Y (Sí)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A7ADD1-39FC-E72F-1058-FF3EB1664B28}"/>
              </a:ext>
            </a:extLst>
          </p:cNvPr>
          <p:cNvSpPr txBox="1"/>
          <p:nvPr/>
        </p:nvSpPr>
        <p:spPr>
          <a:xfrm>
            <a:off x="6096000" y="1730293"/>
            <a:ext cx="54140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10) Edema: presencia de edema N (sin edema y sin tratamiento diurético para el edema), S (edema presente sin diuréticos o edema resuelto con diuréticos) o Y (edema a pesar del tratamiento diurético)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11) Bilirrubina: suero bilirrubina en [mg/dl]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12) Colesterol: colesterol sérico en [mg/dl]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13) Albúmina: albúmina en [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gm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/dl]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14) Cobre: ​​cobre en orina en [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ug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/día]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15)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Alk_Phos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fosfatasa alcalina en [U/litro]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16) SGOT: SGOT en [U/ml]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17) Triglicéridos: triglicéridos en [mg/dl]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18) Plaquetas: plaquetas por cúbico [ml/1000]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19) Protrombina: tiempo de protrombina en segundos [s]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20) Estadio: estadio histológico de la enfermedad (1, 2, 3 o 4)</a:t>
            </a: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868BDD0-2B96-3994-54F4-706440B73900}"/>
              </a:ext>
            </a:extLst>
          </p:cNvPr>
          <p:cNvSpPr txBox="1">
            <a:spLocks/>
          </p:cNvSpPr>
          <p:nvPr/>
        </p:nvSpPr>
        <p:spPr>
          <a:xfrm>
            <a:off x="691858" y="98408"/>
            <a:ext cx="9192843" cy="10099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Dataset</a:t>
            </a:r>
            <a:r>
              <a:rPr kumimoji="0" lang="es-MX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- CIRROSIS</a:t>
            </a:r>
          </a:p>
        </p:txBody>
      </p:sp>
    </p:spTree>
    <p:extLst>
      <p:ext uri="{BB962C8B-B14F-4D97-AF65-F5344CB8AC3E}">
        <p14:creationId xmlns:p14="http://schemas.microsoft.com/office/powerpoint/2010/main" val="228309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54739" y="378901"/>
            <a:ext cx="10301781" cy="4031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/>
          <a:p>
            <a:r>
              <a:rPr lang="es-CL" dirty="0"/>
              <a:t>Objetivo del análisis de los </a:t>
            </a:r>
            <a:r>
              <a:rPr lang="es-CL" dirty="0" err="1"/>
              <a:t>datasets</a:t>
            </a:r>
            <a:endParaRPr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C6AF99-7D2B-E9C9-B414-C48653A351C8}"/>
              </a:ext>
            </a:extLst>
          </p:cNvPr>
          <p:cNvSpPr txBox="1"/>
          <p:nvPr/>
        </p:nvSpPr>
        <p:spPr>
          <a:xfrm>
            <a:off x="1181100" y="1971776"/>
            <a:ext cx="850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Conocer los datos.</a:t>
            </a:r>
          </a:p>
          <a:p>
            <a:r>
              <a:rPr lang="es-CL" dirty="0"/>
              <a:t>Determinar si hay variables candidatas a generar modelos predictivos de regresión</a:t>
            </a:r>
          </a:p>
          <a:p>
            <a:r>
              <a:rPr lang="es-CL" dirty="0"/>
              <a:t>Generar informe según contenidos revisado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15354-99FA-97C2-45D1-A7475996A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8" y="136525"/>
            <a:ext cx="8311102" cy="1009968"/>
          </a:xfrm>
        </p:spPr>
        <p:txBody>
          <a:bodyPr anchor="ctr"/>
          <a:lstStyle/>
          <a:p>
            <a:r>
              <a:rPr lang="es-CL" dirty="0"/>
              <a:t>Agenda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280CF1C-B526-E528-1C69-28AE37C6C357}"/>
              </a:ext>
            </a:extLst>
          </p:cNvPr>
          <p:cNvSpPr txBox="1"/>
          <p:nvPr/>
        </p:nvSpPr>
        <p:spPr>
          <a:xfrm>
            <a:off x="832898" y="1995168"/>
            <a:ext cx="399505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Introducción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Descripción del </a:t>
            </a:r>
            <a:r>
              <a:rPr lang="es-MX" sz="1400" dirty="0" err="1"/>
              <a:t>dataset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Objetivo del análisis</a:t>
            </a:r>
          </a:p>
          <a:p>
            <a:r>
              <a:rPr lang="es-MX" sz="1400" b="1" dirty="0"/>
              <a:t>Estructura del </a:t>
            </a:r>
            <a:r>
              <a:rPr lang="es-MX" sz="1400" b="1" dirty="0" err="1"/>
              <a:t>dataset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Tipos de variables (numéricas, categóricas)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Número de observaciones y dimensiones</a:t>
            </a:r>
          </a:p>
          <a:p>
            <a:r>
              <a:rPr lang="es-MX" sz="1400" b="1" dirty="0"/>
              <a:t>Estadística Descriptiva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Variables numéricas: 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s-MX" sz="1400" dirty="0"/>
              <a:t>medidas de tendencia central (media, mediana), dispersión (desviación estándar, rango), percentiles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s-MX" sz="1400" dirty="0"/>
              <a:t>Histogramas y distribuciones de las variables numéricas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Variables categóricas: 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s-MX" sz="1400" dirty="0"/>
              <a:t>frecuencias y proporciones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s-MX" sz="1400" dirty="0"/>
              <a:t>Gráficos de barras para variables categóricas</a:t>
            </a:r>
          </a:p>
          <a:p>
            <a:endParaRPr lang="es-MX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1A0CFE-FE5B-64BB-0FB1-69F8E99A5DD1}"/>
              </a:ext>
            </a:extLst>
          </p:cNvPr>
          <p:cNvSpPr txBox="1"/>
          <p:nvPr/>
        </p:nvSpPr>
        <p:spPr>
          <a:xfrm>
            <a:off x="6444345" y="1995168"/>
            <a:ext cx="523602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/>
              <a:t>Relaciones entre Variables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Correlaciones entre variables numéricas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Comparaciones categóricas (ejemplo: comparación de promedios por categorías)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Visualizaciones adicionales (gráficos de dispersión, diagramas de caja y bigotes)</a:t>
            </a:r>
            <a:endParaRPr lang="es-MX" sz="1400" b="1" dirty="0"/>
          </a:p>
          <a:p>
            <a:r>
              <a:rPr lang="es-MX" sz="1400" b="1" dirty="0"/>
              <a:t>Identificación de Patrones y Anomalías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 err="1"/>
              <a:t>Outliers</a:t>
            </a:r>
            <a:r>
              <a:rPr lang="es-MX" sz="1400" dirty="0"/>
              <a:t> (valores atípicos)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NAN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duplicados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Tendencias o agrupaciones observadas</a:t>
            </a:r>
          </a:p>
          <a:p>
            <a:r>
              <a:rPr lang="es-MX" sz="1400" b="1" dirty="0"/>
              <a:t>Interpretación de Resultados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Resumen de hallazgos clave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Variables candidatas a predicción (regresión, clasificación)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Qué modelos de segmentación podrías visualizar a futuro</a:t>
            </a:r>
          </a:p>
          <a:p>
            <a:r>
              <a:rPr lang="es-MX" sz="1400" b="1" dirty="0"/>
              <a:t>Conclusiones</a:t>
            </a:r>
            <a:endParaRPr lang="es-MX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Principales descubrimientos del análisis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Impacto en la comprensión de los datos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MX" sz="1400" dirty="0"/>
              <a:t>Posibles usos de los resultados</a:t>
            </a:r>
          </a:p>
        </p:txBody>
      </p:sp>
    </p:spTree>
    <p:extLst>
      <p:ext uri="{BB962C8B-B14F-4D97-AF65-F5344CB8AC3E}">
        <p14:creationId xmlns:p14="http://schemas.microsoft.com/office/powerpoint/2010/main" val="106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15354-99FA-97C2-45D1-A7475996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Consultas</a:t>
            </a:r>
          </a:p>
        </p:txBody>
      </p:sp>
      <p:pic>
        <p:nvPicPr>
          <p:cNvPr id="7" name="Gráfico 6" descr="Signo de interrogación con relleno sólido">
            <a:extLst>
              <a:ext uri="{FF2B5EF4-FFF2-40B4-BE49-F238E27FC236}">
                <a16:creationId xmlns:a16="http://schemas.microsoft.com/office/drawing/2014/main" id="{2311AA02-157C-0CBD-19AB-C7395A9BE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3038" y="2582693"/>
            <a:ext cx="2388140" cy="238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2345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modelo UEC" id="{5D8C15AA-88BD-BD47-B69C-6955C5A35F6A}" vid="{5088892B-B680-B544-9E77-4786DE19780A}"/>
    </a:ext>
  </a:extLst>
</a:theme>
</file>

<file path=ppt/theme/theme2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modelo UEC" id="{5D8C15AA-88BD-BD47-B69C-6955C5A35F6A}" vid="{5088892B-B680-B544-9E77-4786DE1978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5269</TotalTime>
  <Words>669</Words>
  <Application>Microsoft Office PowerPoint</Application>
  <PresentationFormat>Panorámica</PresentationFormat>
  <Paragraphs>66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1_Tema de Office</vt:lpstr>
      <vt:lpstr>3_Tema de Office</vt:lpstr>
      <vt:lpstr>Taller Análisis estadístico 2025</vt:lpstr>
      <vt:lpstr>Presentación de PowerPoint</vt:lpstr>
      <vt:lpstr>Presentación de PowerPoint</vt:lpstr>
      <vt:lpstr>Objetivo del análisis de los datasets</vt:lpstr>
      <vt:lpstr>Agenda</vt:lpstr>
      <vt:lpstr>Consultas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Javiera Constanza Rodríguez Cerda (jarodriguez)</dc:creator>
  <cp:lastModifiedBy>Marco Antonio Japke Adriasola</cp:lastModifiedBy>
  <cp:revision>230</cp:revision>
  <dcterms:created xsi:type="dcterms:W3CDTF">2023-06-29T21:02:28Z</dcterms:created>
  <dcterms:modified xsi:type="dcterms:W3CDTF">2026-03-21T19:44:59Z</dcterms:modified>
</cp:coreProperties>
</file>